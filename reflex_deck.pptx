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75520" y="-2011680"/>
            <a:ext cx="5029200" cy="5029200"/>
          </a:xfrm>
          <a:prstGeom prst="ellipse">
            <a:avLst/>
          </a:prstGeom>
          <a:solidFill>
            <a:srgbClr val="233866"/>
          </a:solidFill>
          <a:ln/>
        </p:spPr>
      </p:sp>
      <p:sp>
        <p:nvSpPr>
          <p:cNvPr id="3" name="Shape 1"/>
          <p:cNvSpPr/>
          <p:nvPr/>
        </p:nvSpPr>
        <p:spPr>
          <a:xfrm>
            <a:off x="10607040" y="-1280160"/>
            <a:ext cx="3474720" cy="3474720"/>
          </a:xfrm>
          <a:prstGeom prst="ellipse">
            <a:avLst/>
          </a:prstGeom>
          <a:solidFill>
            <a:srgbClr val="E8873A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2286000"/>
            <a:ext cx="9144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REFLEX</a:t>
            </a:r>
            <a:endParaRPr lang="en-US" sz="60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32918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delivery tracking for small Kenyan retailers</a:t>
            </a:r>
            <a:endParaRPr lang="en-US" sz="2000" dirty="0"/>
          </a:p>
        </p:txBody>
      </p:sp>
      <p:sp>
        <p:nvSpPr>
          <p:cNvPr id="6" name="Text 4"/>
          <p:cNvSpPr txBox="1"/>
          <p:nvPr/>
        </p:nvSpPr>
        <p:spPr>
          <a:xfrm>
            <a:off x="868680" y="594360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 →  Solution  →  Architecture  →  Trade-offs  →  Roadmap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8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record. No visibility. No proof.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212080" cy="420624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2700">
            <a:solidFill>
              <a:srgbClr val="E2E0D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0116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8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Today: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423160"/>
            <a:ext cx="45720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Retailers coordinate over WhatsApp and phone calls</a:t>
            </a:r>
            <a:endParaRPr lang="en-US" sz="16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record of who's assigned</a:t>
            </a:r>
            <a:endParaRPr lang="en-US" sz="16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status visibility for the retailer</a:t>
            </a:r>
            <a:endParaRPr lang="en-US" sz="1600" dirty="0"/>
          </a:p>
          <a:p>
            <a:pPr marL="342900" indent="-342900">
              <a:lnSpc>
                <a:spcPct val="150000"/>
              </a:lnSpc>
              <a:buSzPct val="100000"/>
              <a:buChar char="•"/>
            </a:pPr>
            <a:r>
              <a:rPr lang="en-US" sz="16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proof a delivery ever happened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126480" y="1737360"/>
            <a:ext cx="5486400" cy="4206240"/>
          </a:xfrm>
          <a:prstGeom prst="roundRect">
            <a:avLst>
              <a:gd name="adj" fmla="val 2609"/>
            </a:avLst>
          </a:prstGeom>
          <a:solidFill>
            <a:srgbClr val="1B2A4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92240" y="20116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8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feels this: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92240" y="2651760"/>
            <a:ext cx="457200" cy="457200"/>
          </a:xfrm>
          <a:prstGeom prst="ellipse">
            <a:avLst/>
          </a:prstGeom>
          <a:solidFill>
            <a:srgbClr val="E8873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492240" y="26517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7132320" y="260604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Retailer staff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7132320" y="2944368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 a delivery — then has no idea what happens next.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492240" y="3703320"/>
            <a:ext cx="457200" cy="457200"/>
          </a:xfrm>
          <a:prstGeom prst="ellipse">
            <a:avLst/>
          </a:prstGeom>
          <a:solidFill>
            <a:srgbClr val="E8873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92240" y="37033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7132320" y="365760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Dispatcher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7132320" y="3995928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Manages riders by memory and phone calls.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492240" y="4754880"/>
            <a:ext cx="457200" cy="457200"/>
          </a:xfrm>
          <a:prstGeom prst="ellipse">
            <a:avLst/>
          </a:prstGeom>
          <a:solidFill>
            <a:srgbClr val="E8873A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492240" y="47548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7132320" y="4709160"/>
            <a:ext cx="4297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Rider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7132320" y="5047488"/>
            <a:ext cx="4297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structured way to report progress.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8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SOLUTION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system, three roles, one shared source of truth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474720" cy="402336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E2E0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148840"/>
            <a:ext cx="822960" cy="822960"/>
          </a:xfrm>
          <a:prstGeom prst="roundRect">
            <a:avLst>
              <a:gd name="adj" fmla="val 50000"/>
            </a:avLst>
          </a:prstGeom>
          <a:solidFill>
            <a:srgbClr val="E8873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21488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32004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Retailer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3703320"/>
            <a:ext cx="29260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Logs a delivery request with customer, address, and item details.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297680" y="1828800"/>
            <a:ext cx="3474720" cy="402336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E2E0D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0" y="2148840"/>
            <a:ext cx="822960" cy="822960"/>
          </a:xfrm>
          <a:prstGeom prst="roundRect">
            <a:avLst>
              <a:gd name="adj" fmla="val 50000"/>
            </a:avLst>
          </a:prstGeom>
          <a:solidFill>
            <a:srgbClr val="2FA37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572000" y="21488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0" y="32004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Dispatcher</a:t>
            </a:r>
            <a:endParaRPr lang="en-US" sz="20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0" y="3703320"/>
            <a:ext cx="29260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Sees every open request and assigns it to an available rider.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046720" y="1828800"/>
            <a:ext cx="3474720" cy="402336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E2E0D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321040" y="2148840"/>
            <a:ext cx="822960" cy="822960"/>
          </a:xfrm>
          <a:prstGeom prst="roundRect">
            <a:avLst>
              <a:gd name="adj" fmla="val 50000"/>
            </a:avLst>
          </a:prstGeom>
          <a:solidFill>
            <a:srgbClr val="1B2A4A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321040" y="21488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17" name="Text 15"/>
          <p:cNvSpPr txBox="1"/>
          <p:nvPr/>
        </p:nvSpPr>
        <p:spPr>
          <a:xfrm>
            <a:off x="8321040" y="320040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Rider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8321040" y="3703320"/>
            <a:ext cx="29260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Updates status as the delivery moves, and confirms it with a QR scan.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8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simple, defensible stack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657600" cy="4206240"/>
          </a:xfrm>
          <a:prstGeom prst="roundRect">
            <a:avLst>
              <a:gd name="adj" fmla="val 3000"/>
            </a:avLst>
          </a:prstGeom>
          <a:solidFill>
            <a:srgbClr val="FFFFFF"/>
          </a:solidFill>
          <a:ln w="12700">
            <a:solidFill>
              <a:srgbClr val="E2E0D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14400" y="21031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E88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914400" y="2359152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HTML + CSS + JS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914400" y="333756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E88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3593592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Python + Flask</a:t>
            </a:r>
            <a:endParaRPr lang="en-US" sz="200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457200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E88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914400" y="4828032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MySQL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914400" y="5623560"/>
            <a:ext cx="2926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Chosen for speed to build and ease of defending live — every choice is explainable in one sentence.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480560" y="1737360"/>
            <a:ext cx="7132320" cy="420624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2700">
            <a:solidFill>
              <a:srgbClr val="E2E0D8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846320" y="19659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8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tables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846320" y="2542032"/>
            <a:ext cx="109728" cy="457200"/>
          </a:xfrm>
          <a:prstGeom prst="rect">
            <a:avLst/>
          </a:prstGeom>
          <a:solidFill>
            <a:srgbClr val="2FA37A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074920" y="246888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Users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7132320" y="251460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role: Retailer / Dispatcher / Rider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4846320" y="3319272"/>
            <a:ext cx="109728" cy="457200"/>
          </a:xfrm>
          <a:prstGeom prst="rect">
            <a:avLst/>
          </a:prstGeom>
          <a:solidFill>
            <a:srgbClr val="2FA37A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5074920" y="324612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Deliveries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7132320" y="329184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status: OPEN → ASSIGNED → PICKED_UP → DELIVERED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4846320" y="4096512"/>
            <a:ext cx="109728" cy="457200"/>
          </a:xfrm>
          <a:prstGeom prst="rect">
            <a:avLst/>
          </a:prstGeom>
          <a:solidFill>
            <a:srgbClr val="2FA37A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074920" y="402336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Status_history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7132320" y="406908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trail — who changed what, when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4846320" y="4873752"/>
            <a:ext cx="109728" cy="457200"/>
          </a:xfrm>
          <a:prstGeom prst="rect">
            <a:avLst/>
          </a:prstGeom>
          <a:solidFill>
            <a:srgbClr val="2FA37A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5074920" y="480060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QR_confirmations</a:t>
            </a:r>
            <a:endParaRPr lang="en-US" sz="1600" dirty="0"/>
          </a:p>
        </p:txBody>
      </p:sp>
      <p:sp>
        <p:nvSpPr>
          <p:cNvPr id="25" name="Text 23"/>
          <p:cNvSpPr txBox="1"/>
          <p:nvPr/>
        </p:nvSpPr>
        <p:spPr>
          <a:xfrm>
            <a:off x="7132320" y="4846320"/>
            <a:ext cx="4206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scan attempt, success or fail</a:t>
            </a:r>
            <a:endParaRPr lang="en-US" sz="1250" dirty="0"/>
          </a:p>
        </p:txBody>
      </p:sp>
      <p:sp>
        <p:nvSpPr>
          <p:cNvPr id="26" name="Text 24"/>
          <p:cNvSpPr txBox="1"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8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Forward-only status, gated by a real scan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3291840"/>
            <a:ext cx="1737360" cy="822960"/>
          </a:xfrm>
          <a:prstGeom prst="roundRect">
            <a:avLst>
              <a:gd name="adj" fmla="val 8889"/>
            </a:avLst>
          </a:prstGeom>
          <a:solidFill>
            <a:srgbClr val="88888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329184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423160" y="3593592"/>
            <a:ext cx="457200" cy="219456"/>
          </a:xfrm>
          <a:prstGeom prst="rightArrow">
            <a:avLst/>
          </a:prstGeom>
          <a:solidFill>
            <a:srgbClr val="6B7A99"/>
          </a:solidFill>
          <a:ln/>
        </p:spPr>
      </p:sp>
      <p:sp>
        <p:nvSpPr>
          <p:cNvPr id="7" name="Shape 5"/>
          <p:cNvSpPr/>
          <p:nvPr/>
        </p:nvSpPr>
        <p:spPr>
          <a:xfrm>
            <a:off x="2880360" y="3291840"/>
            <a:ext cx="1737360" cy="822960"/>
          </a:xfrm>
          <a:prstGeom prst="roundRect">
            <a:avLst>
              <a:gd name="adj" fmla="val 8889"/>
            </a:avLst>
          </a:prstGeom>
          <a:solidFill>
            <a:srgbClr val="1B2A4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2880360" y="329184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ASSIGNED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663440" y="3593592"/>
            <a:ext cx="457200" cy="219456"/>
          </a:xfrm>
          <a:prstGeom prst="rightArrow">
            <a:avLst/>
          </a:prstGeom>
          <a:solidFill>
            <a:srgbClr val="6B7A99"/>
          </a:solidFill>
          <a:ln/>
        </p:spPr>
      </p:sp>
      <p:sp>
        <p:nvSpPr>
          <p:cNvPr id="10" name="Shape 8"/>
          <p:cNvSpPr/>
          <p:nvPr/>
        </p:nvSpPr>
        <p:spPr>
          <a:xfrm>
            <a:off x="5120640" y="3291840"/>
            <a:ext cx="1737360" cy="822960"/>
          </a:xfrm>
          <a:prstGeom prst="roundRect">
            <a:avLst>
              <a:gd name="adj" fmla="val 8889"/>
            </a:avLst>
          </a:prstGeom>
          <a:solidFill>
            <a:srgbClr val="2FA37A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120640" y="329184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PICKED_UP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903720" y="3593592"/>
            <a:ext cx="457200" cy="219456"/>
          </a:xfrm>
          <a:prstGeom prst="rightArrow">
            <a:avLst/>
          </a:prstGeom>
          <a:solidFill>
            <a:srgbClr val="6B7A99"/>
          </a:solidFill>
          <a:ln/>
        </p:spPr>
      </p:sp>
      <p:sp>
        <p:nvSpPr>
          <p:cNvPr id="13" name="Shape 11"/>
          <p:cNvSpPr/>
          <p:nvPr/>
        </p:nvSpPr>
        <p:spPr>
          <a:xfrm>
            <a:off x="7360920" y="3063240"/>
            <a:ext cx="1280160" cy="1280160"/>
          </a:xfrm>
          <a:prstGeom prst="diamond">
            <a:avLst/>
          </a:prstGeom>
          <a:solidFill>
            <a:srgbClr val="E8873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360920" y="3063240"/>
            <a:ext cx="1280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QR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scan?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686800" y="3593592"/>
            <a:ext cx="457200" cy="219456"/>
          </a:xfrm>
          <a:prstGeom prst="rightArrow">
            <a:avLst/>
          </a:prstGeom>
          <a:solidFill>
            <a:srgbClr val="6B7A99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686800" y="29718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9189720" y="3291840"/>
            <a:ext cx="1737360" cy="822960"/>
          </a:xfrm>
          <a:prstGeom prst="roundRect">
            <a:avLst>
              <a:gd name="adj" fmla="val 8889"/>
            </a:avLst>
          </a:prstGeom>
          <a:solidFill>
            <a:srgbClr val="2FA37A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9189720" y="329184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DELIVERED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40080" y="493776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failed scan does not advance status — the rider is prompted to rescan, and every attempt (success or fail) is logged.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640080" y="55778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skipping. No reversing. DELIVERED is unreachable without a real, verified scan.</a:t>
            </a:r>
            <a:endParaRPr lang="en-US" sz="1700" dirty="0"/>
          </a:p>
        </p:txBody>
      </p:sp>
      <p:sp>
        <p:nvSpPr>
          <p:cNvPr id="21" name="Text 19"/>
          <p:cNvSpPr txBox="1"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8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TRADE-OFFS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weak points we found ourselves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34924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2E0D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965960"/>
            <a:ext cx="502920" cy="502920"/>
          </a:xfrm>
          <a:prstGeom prst="ellipse">
            <a:avLst/>
          </a:prstGeom>
          <a:solidFill>
            <a:srgbClr val="E8873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1965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417320" y="1938528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capacity check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256032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Dispatcher can assign an already-busy Rider.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868680" y="315468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Accepted because: Load balancing wasn't in scope.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172200" y="1737360"/>
            <a:ext cx="534924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2E0D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400800" y="1965960"/>
            <a:ext cx="502920" cy="502920"/>
          </a:xfrm>
          <a:prstGeom prst="ellipse">
            <a:avLst/>
          </a:prstGeom>
          <a:solidFill>
            <a:srgbClr val="E8873A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00800" y="19659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7040880" y="1938528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Forward-only, no correction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6492240" y="256032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mis-tap can't be undone by the Rider.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6492240" y="315468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Accepted because: Keeps the audit trail simple to defend.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3931920"/>
            <a:ext cx="534924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2E0D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77240" y="4160520"/>
            <a:ext cx="502920" cy="502920"/>
          </a:xfrm>
          <a:prstGeom prst="ellipse">
            <a:avLst/>
          </a:prstGeom>
          <a:solidFill>
            <a:srgbClr val="E8873A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77240" y="4160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9" name="Text 17"/>
          <p:cNvSpPr txBox="1"/>
          <p:nvPr/>
        </p:nvSpPr>
        <p:spPr>
          <a:xfrm>
            <a:off x="1417320" y="4133088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SMS is fire-and-forget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868680" y="475488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confirmation the message was received.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868680" y="534924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Accepted because: Receipt handling wasn't justified for an MVP.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172200" y="3931920"/>
            <a:ext cx="534924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2E0D8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400800" y="4160520"/>
            <a:ext cx="502920" cy="502920"/>
          </a:xfrm>
          <a:prstGeom prst="ellipse">
            <a:avLst/>
          </a:prstGeom>
          <a:solidFill>
            <a:srgbClr val="E8873A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400800" y="41605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5" name="Text 23"/>
          <p:cNvSpPr txBox="1"/>
          <p:nvPr/>
        </p:nvSpPr>
        <p:spPr>
          <a:xfrm>
            <a:off x="7040880" y="4133088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authentication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6492240" y="475488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IDs are typed in, not verified.</a:t>
            </a:r>
            <a:endParaRPr lang="en-US" sz="1250" dirty="0"/>
          </a:p>
        </p:txBody>
      </p:sp>
      <p:sp>
        <p:nvSpPr>
          <p:cNvPr id="27" name="Text 25"/>
          <p:cNvSpPr txBox="1"/>
          <p:nvPr/>
        </p:nvSpPr>
        <p:spPr>
          <a:xfrm>
            <a:off x="6492240" y="5349240"/>
            <a:ext cx="4846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Accepted because: Auth wasn't in scope for this sprint.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E887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58368"/>
            <a:ext cx="10058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we'd build next, in order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822960" y="2743200"/>
            <a:ext cx="640080" cy="640080"/>
          </a:xfrm>
          <a:prstGeom prst="ellipse">
            <a:avLst/>
          </a:prstGeom>
          <a:solidFill>
            <a:srgbClr val="E8873A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22960" y="2743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1508760" y="3017520"/>
            <a:ext cx="1874520" cy="54864"/>
          </a:xfrm>
          <a:prstGeom prst="rect">
            <a:avLst/>
          </a:prstGeom>
          <a:solidFill>
            <a:srgbClr val="D9D4C7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320040" y="356616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Auto-assignment by rider load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474720" y="2743200"/>
            <a:ext cx="640080" cy="640080"/>
          </a:xfrm>
          <a:prstGeom prst="ellipse">
            <a:avLst/>
          </a:prstGeom>
          <a:solidFill>
            <a:srgbClr val="D9D4C7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474720" y="2743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4160520" y="3017520"/>
            <a:ext cx="1874520" cy="54864"/>
          </a:xfrm>
          <a:prstGeom prst="rect">
            <a:avLst/>
          </a:prstGeom>
          <a:solidFill>
            <a:srgbClr val="D9D4C7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2971800" y="356616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Dispatcher-only status correction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126480" y="2743200"/>
            <a:ext cx="640080" cy="640080"/>
          </a:xfrm>
          <a:prstGeom prst="ellipse">
            <a:avLst/>
          </a:prstGeom>
          <a:solidFill>
            <a:srgbClr val="D9D4C7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126480" y="2743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6812280" y="3017520"/>
            <a:ext cx="1874520" cy="54864"/>
          </a:xfrm>
          <a:prstGeom prst="rect">
            <a:avLst/>
          </a:prstGeom>
          <a:solidFill>
            <a:srgbClr val="D9D4C7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623560" y="356616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SMS delivery receipts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778240" y="2743200"/>
            <a:ext cx="640080" cy="640080"/>
          </a:xfrm>
          <a:prstGeom prst="ellipse">
            <a:avLst/>
          </a:prstGeom>
          <a:solidFill>
            <a:srgbClr val="D9D4C7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778240" y="274320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18" name="Text 16"/>
          <p:cNvSpPr txBox="1"/>
          <p:nvPr/>
        </p:nvSpPr>
        <p:spPr>
          <a:xfrm>
            <a:off x="8275320" y="3566160"/>
            <a:ext cx="1645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authentication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11521440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A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4389120"/>
            <a:ext cx="5029200" cy="5029200"/>
          </a:xfrm>
          <a:prstGeom prst="ellipse">
            <a:avLst/>
          </a:prstGeom>
          <a:solidFill>
            <a:srgbClr val="233866"/>
          </a:solidFill>
          <a:ln/>
        </p:spPr>
      </p:sp>
      <p:sp>
        <p:nvSpPr>
          <p:cNvPr id="3" name="Shape 1"/>
          <p:cNvSpPr/>
          <p:nvPr/>
        </p:nvSpPr>
        <p:spPr>
          <a:xfrm>
            <a:off x="-1097280" y="5120640"/>
            <a:ext cx="3474720" cy="3474720"/>
          </a:xfrm>
          <a:prstGeom prst="ellipse">
            <a:avLst/>
          </a:prstGeom>
          <a:solidFill>
            <a:srgbClr val="E8873A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274320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</a:t>
            </a:r>
            <a:endParaRPr lang="en-US" sz="4800" dirty="0"/>
          </a:p>
        </p:txBody>
      </p:sp>
      <p:sp>
        <p:nvSpPr>
          <p:cNvPr id="5" name="Text 3"/>
          <p:cNvSpPr txBox="1"/>
          <p:nvPr/>
        </p:nvSpPr>
        <p:spPr>
          <a:xfrm>
            <a:off x="868680" y="36576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Reflex — built, tested, and ready to defend.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2026-09-04T19:27:07Z</dcterms:created>
  <dcterms:modified xsi:type="dcterms:W3CDTF">2026-09-04T19:27:07Z</dcterms:modified>
</cp:coreProperties>
</file>